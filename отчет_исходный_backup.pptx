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3"/>
  </p:notesMasterIdLst>
  <p:handoutMasterIdLst>
    <p:handoutMasterId r:id="rId24"/>
  </p:handoutMasterIdLst>
  <p:sldIdLst>
    <p:sldId id="692" r:id="rId2"/>
    <p:sldId id="693" r:id="rId3"/>
    <p:sldId id="694" r:id="rId4"/>
    <p:sldId id="651" r:id="rId5"/>
    <p:sldId id="726" r:id="rId6"/>
    <p:sldId id="744" r:id="rId7"/>
    <p:sldId id="745" r:id="rId8"/>
    <p:sldId id="746" r:id="rId9"/>
    <p:sldId id="727" r:id="rId10"/>
    <p:sldId id="747" r:id="rId11"/>
    <p:sldId id="748" r:id="rId12"/>
    <p:sldId id="728" r:id="rId13"/>
    <p:sldId id="749" r:id="rId14"/>
    <p:sldId id="750" r:id="rId15"/>
    <p:sldId id="751" r:id="rId16"/>
    <p:sldId id="739" r:id="rId17"/>
    <p:sldId id="754" r:id="rId18"/>
    <p:sldId id="755" r:id="rId19"/>
    <p:sldId id="743" r:id="rId20"/>
    <p:sldId id="690" r:id="rId21"/>
    <p:sldId id="691" r:id="rId22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xmlns="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E60000"/>
    <a:srgbClr val="052E81"/>
    <a:srgbClr val="0000CC"/>
    <a:srgbClr val="003399"/>
    <a:srgbClr val="0000FF"/>
    <a:srgbClr val="3333CC"/>
    <a:srgbClr val="EB0000"/>
    <a:srgbClr val="EB1E00"/>
    <a:srgbClr val="E51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6408" autoAdjust="0"/>
  </p:normalViewPr>
  <p:slideViewPr>
    <p:cSldViewPr showGuides="1">
      <p:cViewPr>
        <p:scale>
          <a:sx n="75" d="100"/>
          <a:sy n="75" d="100"/>
        </p:scale>
        <p:origin x="-1068" y="156"/>
      </p:cViewPr>
      <p:guideLst>
        <p:guide orient="horz" pos="2296"/>
        <p:guide orient="horz" pos="2531"/>
        <p:guide pos="2880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="" xmlns:a16="http://schemas.microsoft.com/office/drawing/2014/main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03.06.2026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CA9037-5C04-413C-AFF2-1B3777C3E58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209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E52F706F-AFAA-4FA6-90FD-A6042EEAC4E3}"/>
              </a:ext>
            </a:extLst>
          </p:cNvPr>
          <p:cNvSpPr/>
          <p:nvPr userDrawn="1"/>
        </p:nvSpPr>
        <p:spPr>
          <a:xfrm>
            <a:off x="0" y="1954612"/>
            <a:ext cx="10693400" cy="405826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15" name="Заголовок 1">
            <a:extLst>
              <a:ext uri="{FF2B5EF4-FFF2-40B4-BE49-F238E27FC236}">
                <a16:creationId xmlns="" xmlns:a16="http://schemas.microsoft.com/office/drawing/2014/main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="" xmlns:a16="http://schemas.microsoft.com/office/drawing/2014/main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" name="Группа 1"/>
          <p:cNvGrpSpPr/>
          <p:nvPr userDrawn="1"/>
        </p:nvGrpSpPr>
        <p:grpSpPr>
          <a:xfrm>
            <a:off x="64645" y="36215"/>
            <a:ext cx="2401735" cy="1883566"/>
            <a:chOff x="108831" y="-599499"/>
            <a:chExt cx="2520279" cy="1976534"/>
          </a:xfrm>
        </p:grpSpPr>
        <p:sp>
          <p:nvSpPr>
            <p:cNvPr id="10" name="Овал 9"/>
            <p:cNvSpPr/>
            <p:nvPr userDrawn="1"/>
          </p:nvSpPr>
          <p:spPr>
            <a:xfrm>
              <a:off x="234132" y="-565606"/>
              <a:ext cx="2269678" cy="187645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232B74"/>
                </a:clrFrom>
                <a:clrTo>
                  <a:srgbClr val="232B74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8831" y="-599499"/>
              <a:ext cx="2520279" cy="1976534"/>
            </a:xfrm>
            <a:prstGeom prst="rect">
              <a:avLst/>
            </a:prstGeom>
          </p:spPr>
        </p:pic>
      </p:grpSp>
      <p:sp>
        <p:nvSpPr>
          <p:cNvPr id="3" name="Полилиния 2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rgbClr val="99CCFF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=""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Заголовок 1">
            <a:extLst>
              <a:ext uri="{FF2B5EF4-FFF2-40B4-BE49-F238E27FC236}">
                <a16:creationId xmlns=""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=""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=""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Полилиния 8"/>
          <p:cNvSpPr/>
          <p:nvPr userDrawn="1"/>
        </p:nvSpPr>
        <p:spPr>
          <a:xfrm>
            <a:off x="9499310" y="6637967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=""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Заголовок 1">
            <a:extLst>
              <a:ext uri="{FF2B5EF4-FFF2-40B4-BE49-F238E27FC236}">
                <a16:creationId xmlns=""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=""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=""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Полилиния 7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=""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Заголовок 1">
            <a:extLst>
              <a:ext uri="{FF2B5EF4-FFF2-40B4-BE49-F238E27FC236}">
                <a16:creationId xmlns=""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="" xmlns:a16="http://schemas.microsoft.com/office/drawing/2014/main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Полилиния 6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=""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Объект 2">
            <a:extLst>
              <a:ext uri="{FF2B5EF4-FFF2-40B4-BE49-F238E27FC236}">
                <a16:creationId xmlns=""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=""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="" xmlns:a16="http://schemas.microsoft.com/office/drawing/2014/main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="" xmlns:a16="http://schemas.microsoft.com/office/drawing/2014/main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="" xmlns:a16="http://schemas.microsoft.com/office/drawing/2014/main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="" xmlns:a16="http://schemas.microsoft.com/office/drawing/2014/main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=""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Полилиния 11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="" xmlns:a16="http://schemas.microsoft.com/office/drawing/2014/main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=""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3">
            <a:extLst>
              <a:ext uri="{FF2B5EF4-FFF2-40B4-BE49-F238E27FC236}">
                <a16:creationId xmlns="" xmlns:a16="http://schemas.microsoft.com/office/drawing/2014/main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="" xmlns:a16="http://schemas.microsoft.com/office/drawing/2014/main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="" xmlns:a16="http://schemas.microsoft.com/office/drawing/2014/main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="" xmlns:a16="http://schemas.microsoft.com/office/drawing/2014/main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="" xmlns:a16="http://schemas.microsoft.com/office/drawing/2014/main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="" xmlns:a16="http://schemas.microsoft.com/office/drawing/2014/main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="" xmlns:a16="http://schemas.microsoft.com/office/drawing/2014/main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="" xmlns:a16="http://schemas.microsoft.com/office/drawing/2014/main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="" xmlns:a16="http://schemas.microsoft.com/office/drawing/2014/main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="" xmlns:a16="http://schemas.microsoft.com/office/drawing/2014/main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="" xmlns:a16="http://schemas.microsoft.com/office/drawing/2014/main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="" xmlns:a16="http://schemas.microsoft.com/office/drawing/2014/main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Полилиния 18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03.06.2026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03.06.2026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9" r:id="rId2"/>
    <p:sldLayoutId id="2147483739" r:id="rId3"/>
    <p:sldLayoutId id="2147483736" r:id="rId4"/>
    <p:sldLayoutId id="2147483738" r:id="rId5"/>
    <p:sldLayoutId id="2147483737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.jp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533" y="4572719"/>
            <a:ext cx="9679452" cy="1915285"/>
          </a:xfrm>
        </p:spPr>
        <p:txBody>
          <a:bodyPr>
            <a:normAutofit fontScale="90000"/>
          </a:bodyPr>
          <a:lstStyle/>
          <a:p>
            <a:r>
              <a:rPr lang="ru-RU" sz="2100" dirty="0" smtClean="0"/>
              <a:t/>
            </a:r>
            <a:br>
              <a:rPr lang="ru-RU" sz="2100" dirty="0" smtClean="0"/>
            </a:br>
            <a:r>
              <a:rPr lang="ru-RU" sz="2100" dirty="0" smtClean="0"/>
              <a:t/>
            </a:r>
            <a:br>
              <a:rPr lang="ru-RU" sz="2100" dirty="0" smtClean="0"/>
            </a:br>
            <a:r>
              <a:rPr lang="ru-RU" sz="2100" dirty="0" smtClean="0"/>
              <a:t/>
            </a:r>
            <a:br>
              <a:rPr lang="ru-RU" sz="2100" dirty="0" smtClean="0"/>
            </a:br>
            <a:r>
              <a:rPr lang="ru-RU" sz="2100" dirty="0" smtClean="0"/>
              <a:t>ОТЧЕТ </a:t>
            </a:r>
            <a:br>
              <a:rPr lang="ru-RU" sz="2100" dirty="0" smtClean="0"/>
            </a:br>
            <a:r>
              <a:rPr lang="ru-RU" sz="2100" dirty="0" smtClean="0"/>
              <a:t>о прохождении производственной практики</a:t>
            </a:r>
            <a:br>
              <a:rPr lang="ru-RU" sz="2100" dirty="0" smtClean="0"/>
            </a:br>
            <a:r>
              <a:rPr lang="ru-RU" sz="2100" dirty="0" smtClean="0"/>
              <a:t> </a:t>
            </a:r>
            <a:br>
              <a:rPr lang="ru-RU" sz="2100" dirty="0" smtClean="0"/>
            </a:br>
            <a:r>
              <a:rPr lang="ru-RU" sz="2100" dirty="0" smtClean="0"/>
              <a:t>по профессиональному модулю ПМ.01 Разработка программных модулей программного обеспечения компьютерных систем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en-US" sz="2100" dirty="0" smtClean="0"/>
              <a:t/>
            </a:r>
            <a:br>
              <a:rPr lang="en-US" sz="2100" dirty="0" smtClean="0"/>
            </a:br>
            <a:r>
              <a:rPr lang="ru-RU" sz="2100" dirty="0" smtClean="0"/>
              <a:t>в период с «18» ____05____ 2026 г. по «30» ____05____ 2026 г.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ru-RU" sz="2200" dirty="0" smtClean="0"/>
              <a:t/>
            </a:r>
            <a:br>
              <a:rPr lang="ru-RU" sz="2200" dirty="0" smtClean="0"/>
            </a:br>
            <a:r>
              <a:rPr lang="ru-RU" sz="2100" dirty="0" smtClean="0"/>
              <a:t>Специальность 09.02.07 Информационные системы и программирование</a:t>
            </a:r>
            <a:r>
              <a:rPr lang="ru-RU" sz="2700" dirty="0" smtClean="0"/>
              <a:t/>
            </a:r>
            <a:br>
              <a:rPr lang="ru-RU" sz="2700" dirty="0" smtClean="0"/>
            </a:br>
            <a:r>
              <a:rPr lang="ru-RU" sz="2100" dirty="0" smtClean="0"/>
              <a:t/>
            </a:r>
            <a:br>
              <a:rPr lang="ru-RU" sz="2100" dirty="0" smtClean="0"/>
            </a:b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="" xmlns:a16="http://schemas.microsoft.com/office/drawing/2014/main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426966" y="5980906"/>
            <a:ext cx="9024189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ФИО обучающегося</a:t>
            </a:r>
            <a:r>
              <a:rPr kumimoji="0" lang="ru-RU" alt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: </a:t>
            </a:r>
            <a:r>
              <a:rPr lang="ru-RU" altLang="ru-RU" sz="2400" noProof="0" dirty="0" err="1" smtClean="0">
                <a:solidFill>
                  <a:srgbClr val="FF0000"/>
                </a:solidFill>
                <a:latin typeface="Calibri"/>
              </a:rPr>
              <a:t>Шатаев</a:t>
            </a:r>
            <a:r>
              <a:rPr lang="ru-RU" altLang="ru-RU" sz="2400" noProof="0" dirty="0" smtClean="0">
                <a:solidFill>
                  <a:srgbClr val="FF0000"/>
                </a:solidFill>
                <a:latin typeface="Calibri"/>
              </a:rPr>
              <a:t> </a:t>
            </a:r>
            <a:r>
              <a:rPr lang="ru-RU" altLang="ru-RU" sz="2400" noProof="0" dirty="0" err="1" smtClean="0">
                <a:solidFill>
                  <a:srgbClr val="FF0000"/>
                </a:solidFill>
                <a:latin typeface="Calibri"/>
              </a:rPr>
              <a:t>Якуб</a:t>
            </a:r>
            <a:r>
              <a:rPr lang="ru-RU" altLang="ru-RU" sz="2400" noProof="0" dirty="0" smtClean="0">
                <a:solidFill>
                  <a:srgbClr val="FF0000"/>
                </a:solidFill>
                <a:latin typeface="Calibri"/>
              </a:rPr>
              <a:t> </a:t>
            </a:r>
            <a:r>
              <a:rPr lang="ru-RU" altLang="ru-RU" sz="2400" noProof="0" dirty="0" err="1" smtClean="0">
                <a:solidFill>
                  <a:srgbClr val="FF0000"/>
                </a:solidFill>
                <a:latin typeface="Calibri"/>
              </a:rPr>
              <a:t>Зелимханович</a:t>
            </a:r>
            <a:r>
              <a:rPr lang="ru-RU" altLang="ru-RU" sz="2400" dirty="0" smtClean="0">
                <a:solidFill>
                  <a:srgbClr val="FF0000"/>
                </a:solidFill>
              </a:rPr>
              <a:t>________________</a:t>
            </a:r>
            <a:endParaRPr lang="ru-RU" altLang="ru-RU" sz="2400" dirty="0" smtClean="0">
              <a:solidFill>
                <a:srgbClr val="FF0000"/>
              </a:solidFill>
              <a:latin typeface="Calibri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ru-RU" altLang="ru-RU" sz="2400" dirty="0" smtClean="0">
                <a:solidFill>
                  <a:srgbClr val="FF0000"/>
                </a:solidFill>
                <a:latin typeface="Calibri"/>
              </a:rPr>
              <a:t>Группа</a:t>
            </a: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: </a:t>
            </a:r>
            <a:r>
              <a:rPr lang="ru-RU" altLang="ru-RU" sz="2400" dirty="0" smtClean="0">
                <a:solidFill>
                  <a:srgbClr val="FF0000"/>
                </a:solidFill>
                <a:latin typeface="Calibri"/>
              </a:rPr>
              <a:t>ИСИП-23-9__________________________________________</a:t>
            </a:r>
            <a:endParaRPr lang="ru-RU" altLang="ru-RU" sz="2400" dirty="0">
              <a:solidFill>
                <a:srgbClr val="FF0000"/>
              </a:solidFill>
              <a:latin typeface="Calibri"/>
            </a:endParaRPr>
          </a:p>
          <a:p>
            <a:pPr lvl="0"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alt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ФИО Руководителя: </a:t>
            </a:r>
            <a:r>
              <a:rPr lang="ru-RU" altLang="ru-RU" sz="2200" dirty="0">
                <a:solidFill>
                  <a:srgbClr val="FF0000"/>
                </a:solidFill>
                <a:latin typeface="Arial" charset="0"/>
              </a:rPr>
              <a:t>Магомедова </a:t>
            </a:r>
            <a:r>
              <a:rPr lang="ru-RU" altLang="ru-RU" sz="2200" dirty="0" err="1">
                <a:solidFill>
                  <a:srgbClr val="FF0000"/>
                </a:solidFill>
                <a:latin typeface="Arial" charset="0"/>
              </a:rPr>
              <a:t>Мадина</a:t>
            </a:r>
            <a:r>
              <a:rPr lang="ru-RU" altLang="ru-RU" sz="2200" dirty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ru-RU" altLang="ru-RU" sz="2200" dirty="0" err="1">
                <a:solidFill>
                  <a:srgbClr val="FF0000"/>
                </a:solidFill>
                <a:latin typeface="Arial" charset="0"/>
              </a:rPr>
              <a:t>Нурмагомедовна</a:t>
            </a:r>
            <a:r>
              <a:rPr lang="ru-RU" altLang="ru-RU" sz="2200" dirty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ru-RU" altLang="ru-RU" sz="2000" dirty="0" smtClean="0">
                <a:solidFill>
                  <a:srgbClr val="FF0000"/>
                </a:solidFill>
              </a:rPr>
              <a:t>________</a:t>
            </a:r>
            <a:endParaRPr lang="ru-RU" altLang="ru-RU" sz="2000" dirty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16" y="1980431"/>
            <a:ext cx="91440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 hangingPunct="0"/>
            <a:r>
              <a:rPr lang="ru-RU" sz="1600" b="1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МИНИСТЕРСТВО 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ОБРАЗОВАНИЯ И НАУКИ </a:t>
            </a:r>
          </a:p>
          <a:p>
            <a:pPr algn="ctr" fontAlgn="base" hangingPunct="0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РЕСПУБЛИКИ ДАГЕСТАН</a:t>
            </a:r>
          </a:p>
          <a:p>
            <a:pPr algn="ctr" fontAlgn="base" hangingPunct="0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 </a:t>
            </a:r>
            <a:r>
              <a:rPr lang="ru-RU" sz="1600" b="1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Частное 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профессиональное образовательное учреждение </a:t>
            </a:r>
          </a:p>
          <a:p>
            <a:pPr algn="ctr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«Республиканский </a:t>
            </a:r>
            <a:r>
              <a:rPr lang="ru-RU"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полипрофессиональный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колледж»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ru-RU" altLang="ru-RU" sz="14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912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61291"/>
            <a:ext cx="9687193" cy="567848"/>
          </a:xfrm>
        </p:spPr>
        <p:txBody>
          <a:bodyPr/>
          <a:lstStyle/>
          <a:p>
            <a:r>
              <a:rPr lang="ru-RU" dirty="0" smtClean="0"/>
              <a:t>Содержание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50156" y="1836415"/>
            <a:ext cx="9687193" cy="4349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1. </a:t>
            </a:r>
            <a:r>
              <a:rPr lang="ru-RU" sz="2000" dirty="0" smtClean="0"/>
              <a:t>Инструктаж </a:t>
            </a:r>
            <a:r>
              <a:rPr lang="ru-RU" sz="2000" dirty="0"/>
              <a:t>по соблюдению правил противопожарной безопасности, правил охраны труда, м</a:t>
            </a:r>
            <a:r>
              <a:rPr lang="ru-RU" sz="2000" dirty="0" smtClean="0"/>
              <a:t>еры </a:t>
            </a:r>
            <a:r>
              <a:rPr lang="ru-RU" sz="2000" dirty="0"/>
              <a:t>по обеспечению безопасности при работе с компьютерной </a:t>
            </a:r>
            <a:r>
              <a:rPr lang="ru-RU" sz="2000" dirty="0" smtClean="0"/>
              <a:t>техникой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2. </a:t>
            </a:r>
            <a:r>
              <a:rPr lang="ru-RU" dirty="0" smtClean="0"/>
              <a:t>Анализ предметной области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3. </a:t>
            </a:r>
            <a:r>
              <a:rPr lang="ru-RU" sz="2000" dirty="0" smtClean="0"/>
              <a:t>Разработка спецификаций программного модуля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4. </a:t>
            </a:r>
            <a:r>
              <a:rPr lang="ru-RU" sz="2000" dirty="0" smtClean="0"/>
              <a:t>Разработка кода программного продукта на основе готовой спецификации на уровне модуля</a:t>
            </a:r>
            <a:endParaRPr lang="ru-RU" sz="2000" dirty="0"/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5. </a:t>
            </a:r>
            <a:r>
              <a:rPr lang="ru-RU" sz="2000" dirty="0" smtClean="0"/>
              <a:t>Проведение тестирования программного модуля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>
                <a:solidFill>
                  <a:srgbClr val="FF0000"/>
                </a:solidFill>
              </a:rPr>
              <a:t>6. </a:t>
            </a:r>
            <a:r>
              <a:rPr lang="ru-RU" sz="2000" dirty="0" smtClean="0"/>
              <a:t>Вывод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9555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24" y="300959"/>
            <a:ext cx="9687193" cy="498598"/>
          </a:xfrm>
        </p:spPr>
        <p:txBody>
          <a:bodyPr/>
          <a:lstStyle/>
          <a:p>
            <a:r>
              <a:rPr lang="ru-RU" sz="3600" dirty="0" smtClean="0"/>
              <a:t>Организационный этап</a:t>
            </a:r>
            <a:endParaRPr lang="ru-RU" sz="3600" dirty="0"/>
          </a:p>
        </p:txBody>
      </p:sp>
      <p:sp>
        <p:nvSpPr>
          <p:cNvPr id="4" name="Объект 2">
            <a:extLst>
              <a:ext uri="{FF2B5EF4-FFF2-40B4-BE49-F238E27FC236}">
                <a16:creationId xmlns="" xmlns:a16="http://schemas.microsoft.com/office/drawing/2014/main" id="{D3A72EAB-AC9B-4564-B5A2-65235862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48" y="1908423"/>
            <a:ext cx="9870780" cy="4608512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600" dirty="0"/>
              <a:t>Я, </a:t>
            </a:r>
            <a:r>
              <a:rPr lang="ru-RU" sz="1600" dirty="0" err="1" smtClean="0"/>
              <a:t>Шатаев</a:t>
            </a:r>
            <a:r>
              <a:rPr lang="ru-RU" sz="1600" dirty="0" smtClean="0"/>
              <a:t> </a:t>
            </a:r>
            <a:r>
              <a:rPr lang="ru-RU" sz="1600" dirty="0" err="1" smtClean="0"/>
              <a:t>Якуб</a:t>
            </a:r>
            <a:r>
              <a:rPr lang="ru-RU" sz="1600" dirty="0" smtClean="0"/>
              <a:t> </a:t>
            </a:r>
            <a:r>
              <a:rPr lang="ru-RU" sz="1600" dirty="0" err="1" smtClean="0"/>
              <a:t>Зелимханович</a:t>
            </a:r>
            <a:r>
              <a:rPr lang="ru-RU" sz="1600" dirty="0" smtClean="0"/>
              <a:t>, </a:t>
            </a:r>
            <a:r>
              <a:rPr lang="ru-RU" sz="1600" dirty="0"/>
              <a:t>проходил(а) </a:t>
            </a:r>
            <a:r>
              <a:rPr lang="ru-RU" sz="1600" dirty="0" smtClean="0"/>
              <a:t>производственную </a:t>
            </a:r>
            <a:r>
              <a:rPr lang="ru-RU" sz="1600" dirty="0"/>
              <a:t>практику на базе </a:t>
            </a:r>
            <a:r>
              <a:rPr lang="ru-RU" sz="1600" dirty="0" smtClean="0"/>
              <a:t>ООО «</a:t>
            </a:r>
            <a:r>
              <a:rPr lang="ru-RU" sz="1600" dirty="0" err="1" smtClean="0"/>
              <a:t>Оптимасеть</a:t>
            </a:r>
            <a:r>
              <a:rPr lang="ru-RU" sz="1600" dirty="0" smtClean="0"/>
              <a:t>»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 smtClean="0"/>
              <a:t>При </a:t>
            </a:r>
            <a:r>
              <a:rPr lang="ru-RU" sz="1600" dirty="0"/>
              <a:t>выполнении индивидуального задания по практике </a:t>
            </a:r>
            <a:r>
              <a:rPr lang="ru-RU" sz="1600" dirty="0" smtClean="0"/>
              <a:t>решал задачу создания приложения для предметной области производственной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 smtClean="0"/>
              <a:t>Перед </a:t>
            </a:r>
            <a:r>
              <a:rPr lang="ru-RU" sz="1600" dirty="0"/>
              <a:t>началом практики: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 smtClean="0"/>
              <a:t>Принял </a:t>
            </a:r>
            <a:r>
              <a:rPr lang="ru-RU" sz="1600" dirty="0"/>
              <a:t>участие в организационном собрании по практике.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 smtClean="0"/>
              <a:t>Ознакомился </a:t>
            </a:r>
            <a:r>
              <a:rPr lang="ru-RU" sz="1600" dirty="0"/>
              <a:t>с комплектом шаблонов отчетной документации по практике.</a:t>
            </a:r>
          </a:p>
          <a:p>
            <a:pPr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 smtClean="0"/>
              <a:t>Уточнил(а</a:t>
            </a:r>
            <a:r>
              <a:rPr lang="ru-RU" sz="1600" dirty="0"/>
              <a:t>) контакты руководителя практики от </a:t>
            </a:r>
            <a:r>
              <a:rPr lang="ru-RU" sz="1600" dirty="0" smtClean="0"/>
              <a:t>Образовательной </a:t>
            </a:r>
            <a:r>
              <a:rPr lang="ru-RU" sz="1600" dirty="0"/>
              <a:t>организации, а также правила в отношении субординации, внешнего вида, графика работы, техники безопасности: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/>
              <a:t>Требования к внешнему виду: опрятная одежда в деловом стиле, сменная обувь, отсутствие яркого макияжа и аксессуаров.</a:t>
            </a:r>
            <a:endParaRPr lang="ru-RU" sz="1600" dirty="0">
              <a:solidFill>
                <a:srgbClr val="FF0000"/>
              </a:solidFill>
            </a:endParaRP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/>
              <a:t>Круг обязанностей: установка и настройка программного обеспечения, ведение учета лицензий, техническая поддержка пользователей, помощь в администрировании компьютерной техники.</a:t>
            </a:r>
            <a:endParaRPr lang="ru-RU" sz="1600" dirty="0">
              <a:solidFill>
                <a:srgbClr val="FF0000"/>
              </a:solidFill>
            </a:endParaRP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/>
              <a:t>Доступ к данным: предоставлен доступ к рабочей станции отдела ИТ, внутренней документации и справочным материалам предприятия, а также к тестовой базе данных для разработки программного модуля.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5" name="Текст 3">
            <a:extLst>
              <a:ext uri="{FF2B5EF4-FFF2-40B4-BE49-F238E27FC236}">
                <a16:creationId xmlns="" xmlns:a16="http://schemas.microsoft.com/office/drawing/2014/main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6313" y="779740"/>
            <a:ext cx="9824904" cy="709522"/>
          </a:xfrm>
        </p:spPr>
        <p:txBody>
          <a:bodyPr>
            <a:normAutofit lnSpcReduction="10000"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Правила внутреннего распорядка, правила и нормы охраны труда, </a:t>
            </a:r>
            <a:endParaRPr lang="ru-RU" b="0" dirty="0" smtClean="0">
              <a:solidFill>
                <a:srgbClr val="E60000"/>
              </a:solidFill>
            </a:endParaRPr>
          </a:p>
          <a:p>
            <a:r>
              <a:rPr lang="ru-RU" b="0" dirty="0" smtClean="0">
                <a:solidFill>
                  <a:srgbClr val="E60000"/>
                </a:solidFill>
              </a:rPr>
              <a:t>техники </a:t>
            </a:r>
            <a:r>
              <a:rPr lang="ru-RU" b="0" dirty="0">
                <a:solidFill>
                  <a:srgbClr val="E60000"/>
                </a:solidFill>
              </a:rPr>
              <a:t>безопасности при работе с вычислительной техникой</a:t>
            </a:r>
          </a:p>
        </p:txBody>
      </p:sp>
    </p:spTree>
    <p:extLst>
      <p:ext uri="{BB962C8B-B14F-4D97-AF65-F5344CB8AC3E}">
        <p14:creationId xmlns:p14="http://schemas.microsoft.com/office/powerpoint/2010/main" val="111581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Техника безопасности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237832"/>
            <a:ext cx="9824904" cy="334915"/>
          </a:xfrm>
        </p:spPr>
        <p:txBody>
          <a:bodyPr>
            <a:noAutofit/>
          </a:bodyPr>
          <a:lstStyle/>
          <a:p>
            <a:r>
              <a:rPr lang="ru-RU" sz="1700" b="0" dirty="0">
                <a:solidFill>
                  <a:srgbClr val="E60000"/>
                </a:solidFill>
              </a:rPr>
              <a:t>Инструкция по охране труда. Инструкции по технике безопасности и </a:t>
            </a:r>
            <a:r>
              <a:rPr lang="ru-RU" sz="1700" b="0" dirty="0" err="1">
                <a:solidFill>
                  <a:srgbClr val="E60000"/>
                </a:solidFill>
              </a:rPr>
              <a:t>пожароопасности</a:t>
            </a:r>
            <a:r>
              <a:rPr lang="ru-RU" sz="1700" b="0" dirty="0">
                <a:solidFill>
                  <a:srgbClr val="E60000"/>
                </a:solidFill>
              </a:rPr>
              <a:t>. Меры по обеспечению безопасности при работе с компьютерной техникой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366164" y="4284687"/>
            <a:ext cx="707688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Техника безопасности при работе с компьютерной техникой включает:</a:t>
            </a:r>
          </a:p>
          <a:p>
            <a:pPr algn="just"/>
            <a:r>
              <a:rPr 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Инструкцию по охране труда, инструкции по технике безопасности и </a:t>
            </a:r>
            <a:r>
              <a:rPr lang="ru-RU" sz="16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пожароопасности</a:t>
            </a:r>
            <a:r>
              <a:rPr 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а также меры по обеспечению безопасности при работе с компьютерной техникой.</a:t>
            </a:r>
          </a:p>
          <a:p>
            <a:pPr algn="just"/>
            <a:r>
              <a:rPr lang="ru-RU" sz="16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Основные требования: правильная организация рабочего места, расстояние до монитора не менее 50 см, перерыв каждые 45 минут, запрет на работу с неисправным оборудованием, запрет на самостоятельное вскрытие системного блока.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28" y="2052439"/>
            <a:ext cx="1902117" cy="190211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296" y="2052777"/>
            <a:ext cx="1902117" cy="190211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716" y="2030031"/>
            <a:ext cx="1902117" cy="190211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996" y="2001481"/>
            <a:ext cx="1902117" cy="190211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28" y="2060365"/>
            <a:ext cx="1902117" cy="188626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404" y="2091426"/>
            <a:ext cx="2144009" cy="175017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770" y="2196456"/>
            <a:ext cx="2398178" cy="1750174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807" y="1976431"/>
            <a:ext cx="1902117" cy="1902117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751" y="2268464"/>
            <a:ext cx="1902117" cy="167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92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Краткая технико-экономическая характеристика объекта практики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87252" y="3852639"/>
            <a:ext cx="770485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400" dirty="0"/>
              <a:t>ООО «</a:t>
            </a:r>
            <a:r>
              <a:rPr lang="ru-RU" sz="1400" dirty="0" err="1"/>
              <a:t>Оптимасеть</a:t>
            </a:r>
            <a:r>
              <a:rPr lang="ru-RU" sz="1400" dirty="0"/>
              <a:t>» — телекоммуникационная компания, осуществляющая деятельность в области документальной электросвязи на территории г. Кизляр </a:t>
            </a:r>
            <a:r>
              <a:rPr lang="ru-RU" sz="1400" dirty="0" smtClean="0"/>
              <a:t>. </a:t>
            </a:r>
            <a:r>
              <a:rPr lang="ru-RU" sz="1400" dirty="0"/>
              <a:t>Предприятие работает на рынке с 2008 года, в штате компании насчитывается около 22-26 сотрудников . Компания предоставляет услуги доступа к сети Интернет, услуги телефонной связи, а также занимается розничной торговлей компьютерами, периферийными устройствами, телекоммуникационным оборудованием и программным обеспечением . Для обеспечения своей деятельности компания использует значительный объем компьютерной техники, сетевого оборудования и программного обеспечения, нуждающегося в установке, настройке и технической поддержке.</a:t>
            </a:r>
            <a:endParaRPr lang="ru-RU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236" y="1836415"/>
            <a:ext cx="3024336" cy="1850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avatars.mds.yandex.net/i?id=9579432ccacf2351684f0287d28b53649054ef9f-12590067-images-thumbs&amp;n=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700" y="1836415"/>
            <a:ext cx="3106830" cy="186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28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Состав технических средств подразделения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366164" y="4356695"/>
            <a:ext cx="7704856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Times New Roman" panose="02020603050405020304" pitchFamily="18" charset="0"/>
              </a:rPr>
              <a:t>Состав технических средств подразделения</a:t>
            </a:r>
          </a:p>
          <a:p>
            <a:r>
              <a:rPr lang="ru-RU" dirty="0">
                <a:ea typeface="Times New Roman" panose="02020603050405020304" pitchFamily="18" charset="0"/>
              </a:rPr>
              <a:t>В отделе ИТ используются: рабочие станции на базе </a:t>
            </a:r>
            <a:r>
              <a:rPr lang="ru-RU" dirty="0" err="1">
                <a:ea typeface="Times New Roman" panose="02020603050405020304" pitchFamily="18" charset="0"/>
              </a:rPr>
              <a:t>Intel</a:t>
            </a:r>
            <a:r>
              <a:rPr lang="ru-RU" dirty="0">
                <a:ea typeface="Times New Roman" panose="02020603050405020304" pitchFamily="18" charset="0"/>
              </a:rPr>
              <a:t> </a:t>
            </a:r>
            <a:r>
              <a:rPr lang="ru-RU" dirty="0" err="1">
                <a:ea typeface="Times New Roman" panose="02020603050405020304" pitchFamily="18" charset="0"/>
              </a:rPr>
              <a:t>Core</a:t>
            </a:r>
            <a:r>
              <a:rPr lang="ru-RU" dirty="0">
                <a:ea typeface="Times New Roman" panose="02020603050405020304" pitchFamily="18" charset="0"/>
              </a:rPr>
              <a:t> i5/i7 с 16-32 ГБ ОЗУ и SSD-накопителями, серверное оборудование под управлением </a:t>
            </a:r>
            <a:r>
              <a:rPr lang="ru-RU" dirty="0" err="1">
                <a:ea typeface="Times New Roman" panose="02020603050405020304" pitchFamily="18" charset="0"/>
              </a:rPr>
              <a:t>Windows</a:t>
            </a:r>
            <a:r>
              <a:rPr lang="ru-RU" dirty="0">
                <a:ea typeface="Times New Roman" panose="02020603050405020304" pitchFamily="18" charset="0"/>
              </a:rPr>
              <a:t> </a:t>
            </a:r>
            <a:r>
              <a:rPr lang="ru-RU" dirty="0" err="1">
                <a:ea typeface="Times New Roman" panose="02020603050405020304" pitchFamily="18" charset="0"/>
              </a:rPr>
              <a:t>Server</a:t>
            </a:r>
            <a:r>
              <a:rPr lang="ru-RU" dirty="0">
                <a:ea typeface="Times New Roman" panose="02020603050405020304" pitchFamily="18" charset="0"/>
              </a:rPr>
              <a:t>, сетевое оборудование </a:t>
            </a:r>
            <a:r>
              <a:rPr lang="ru-RU" dirty="0" err="1">
                <a:ea typeface="Times New Roman" panose="02020603050405020304" pitchFamily="18" charset="0"/>
              </a:rPr>
              <a:t>Cisco</a:t>
            </a:r>
            <a:r>
              <a:rPr lang="ru-RU" dirty="0">
                <a:ea typeface="Times New Roman" panose="02020603050405020304" pitchFamily="18" charset="0"/>
              </a:rPr>
              <a:t> и D-</a:t>
            </a:r>
            <a:r>
              <a:rPr lang="ru-RU" dirty="0" err="1">
                <a:ea typeface="Times New Roman" panose="02020603050405020304" pitchFamily="18" charset="0"/>
              </a:rPr>
              <a:t>Link</a:t>
            </a:r>
            <a:r>
              <a:rPr lang="ru-RU" dirty="0">
                <a:ea typeface="Times New Roman" panose="02020603050405020304" pitchFamily="18" charset="0"/>
              </a:rPr>
              <a:t>, принтеры, МФУ и сканеры.</a:t>
            </a:r>
            <a:endParaRPr lang="ru-RU" dirty="0"/>
          </a:p>
        </p:txBody>
      </p:sp>
      <p:pic>
        <p:nvPicPr>
          <p:cNvPr id="13" name="Picture 2" descr="C:\Users\rpk20\Downloads\макет-современного-офисного-стола-с-монитором-клавиатурный-ручка-и-284356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716" y="2002237"/>
            <a:ext cx="3431258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rpk20\Downloads\i (2).jf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292" y="2052439"/>
            <a:ext cx="2952328" cy="1966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34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3717" y="1303113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Состав программного обеспечения и тематика решаемых задач структурным подразделением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366164" y="4356695"/>
            <a:ext cx="770485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Times New Roman" panose="02020603050405020304" pitchFamily="18" charset="0"/>
              </a:rPr>
              <a:t>Состав программного обеспечения подразделения</a:t>
            </a:r>
          </a:p>
          <a:p>
            <a:r>
              <a:rPr lang="ru-RU" dirty="0">
                <a:ea typeface="Times New Roman" panose="02020603050405020304" pitchFamily="18" charset="0"/>
              </a:rPr>
              <a:t>В подразделении используется: </a:t>
            </a:r>
            <a:r>
              <a:rPr lang="en-US" dirty="0">
                <a:ea typeface="Times New Roman" panose="02020603050405020304" pitchFamily="18" charset="0"/>
              </a:rPr>
              <a:t>Windows 10/11, Windows Server, Microsoft Office 365, 1</a:t>
            </a:r>
            <a:r>
              <a:rPr lang="ru-RU" dirty="0">
                <a:ea typeface="Times New Roman" panose="02020603050405020304" pitchFamily="18" charset="0"/>
              </a:rPr>
              <a:t>С:Предприятие, Компас-3</a:t>
            </a:r>
            <a:r>
              <a:rPr lang="en-US" dirty="0">
                <a:ea typeface="Times New Roman" panose="02020603050405020304" pitchFamily="18" charset="0"/>
              </a:rPr>
              <a:t>D, Visual Studio 2026, </a:t>
            </a:r>
            <a:r>
              <a:rPr lang="en-US" dirty="0" err="1">
                <a:ea typeface="Times New Roman" panose="02020603050405020304" pitchFamily="18" charset="0"/>
              </a:rPr>
              <a:t>Git</a:t>
            </a:r>
            <a:r>
              <a:rPr lang="en-US" dirty="0">
                <a:ea typeface="Times New Roman" panose="02020603050405020304" pitchFamily="18" charset="0"/>
              </a:rPr>
              <a:t>, </a:t>
            </a:r>
            <a:r>
              <a:rPr lang="en-US" dirty="0" err="1">
                <a:ea typeface="Times New Roman" panose="02020603050405020304" pitchFamily="18" charset="0"/>
              </a:rPr>
              <a:t>GitHub</a:t>
            </a:r>
            <a:r>
              <a:rPr lang="en-US" dirty="0">
                <a:ea typeface="Times New Roman" panose="02020603050405020304" pitchFamily="18" charset="0"/>
              </a:rPr>
              <a:t> Desktop.</a:t>
            </a:r>
            <a:endParaRPr lang="ru-RU" dirty="0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468" y="1912046"/>
            <a:ext cx="3816424" cy="2430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41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Анализ требований к разрабатываемому программному модулю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392184" y="2772519"/>
            <a:ext cx="770485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/>
              <a:t>Функциональные требования: сбор и отображение сетевых параметров (скорость, </a:t>
            </a:r>
            <a:r>
              <a:rPr lang="ru-RU" sz="1800" dirty="0" err="1"/>
              <a:t>пинг</a:t>
            </a:r>
            <a:r>
              <a:rPr lang="ru-RU" sz="1800" dirty="0"/>
              <a:t>, потери пакетов), мониторинг состояния оборудования (</a:t>
            </a:r>
            <a:r>
              <a:rPr lang="ru-RU" sz="1800" dirty="0" err="1"/>
              <a:t>вкл</a:t>
            </a:r>
            <a:r>
              <a:rPr lang="ru-RU" sz="1800" dirty="0"/>
              <a:t>/</a:t>
            </a:r>
            <a:r>
              <a:rPr lang="ru-RU" sz="1800" dirty="0" err="1"/>
              <a:t>выкл</a:t>
            </a:r>
            <a:r>
              <a:rPr lang="ru-RU" sz="1800" dirty="0"/>
              <a:t>, перегрузка), запись событий в лог-файл с временной меткой, фильтрация логов по дате и типу события, отправка уведомления при превышении пороговых значений.</a:t>
            </a:r>
          </a:p>
          <a:p>
            <a:r>
              <a:rPr lang="ru-RU" sz="1800" dirty="0"/>
              <a:t>Нефункциональные требования: минимальное потребление системных ресурсов (до 5% CPU), круглосуточная работа без сбоев, ведение истории событий не менее 30 дней, совместимость с </a:t>
            </a:r>
            <a:r>
              <a:rPr lang="ru-RU" sz="1800" dirty="0" err="1"/>
              <a:t>Windows</a:t>
            </a:r>
            <a:r>
              <a:rPr lang="ru-RU" sz="1800" dirty="0"/>
              <a:t> 10/11 и серверными ОС.</a:t>
            </a:r>
          </a:p>
        </p:txBody>
      </p:sp>
    </p:spTree>
    <p:extLst>
      <p:ext uri="{BB962C8B-B14F-4D97-AF65-F5344CB8AC3E}">
        <p14:creationId xmlns:p14="http://schemas.microsoft.com/office/powerpoint/2010/main" val="69644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Разработка спецификаций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b="0" dirty="0"/>
              <a:t>Описание функциональной спецификации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366164" y="4356695"/>
            <a:ext cx="7704856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Пространство имен </a:t>
            </a:r>
            <a:r>
              <a:rPr lang="en-US" dirty="0" err="1"/>
              <a:t>TariffPaymentAccounting.App</a:t>
            </a:r>
            <a:r>
              <a:rPr lang="en-US" dirty="0"/>
              <a:t> </a:t>
            </a:r>
            <a:r>
              <a:rPr lang="ru-RU" dirty="0"/>
              <a:t>содержит статический класс </a:t>
            </a:r>
            <a:r>
              <a:rPr lang="en-US" dirty="0"/>
              <a:t>Program </a:t>
            </a:r>
            <a:r>
              <a:rPr lang="ru-RU" dirty="0"/>
              <a:t>с точкой входа в приложение — методом </a:t>
            </a:r>
            <a:r>
              <a:rPr lang="en-US" dirty="0"/>
              <a:t>Main. </a:t>
            </a:r>
            <a:r>
              <a:rPr lang="ru-RU" dirty="0"/>
              <a:t>Метод инициализирует конфигурацию приложения (</a:t>
            </a:r>
            <a:r>
              <a:rPr lang="en-US" dirty="0" err="1"/>
              <a:t>ApplicationConfiguration.Initialize</a:t>
            </a:r>
            <a:r>
              <a:rPr lang="en-US" dirty="0"/>
              <a:t>()) </a:t>
            </a:r>
            <a:r>
              <a:rPr lang="ru-RU" dirty="0"/>
              <a:t>и запускает главную форму (</a:t>
            </a:r>
            <a:r>
              <a:rPr lang="en-US" dirty="0" err="1"/>
              <a:t>Application.Run</a:t>
            </a:r>
            <a:r>
              <a:rPr lang="en-US" dirty="0"/>
              <a:t>(new </a:t>
            </a:r>
            <a:r>
              <a:rPr lang="en-US" dirty="0" err="1"/>
              <a:t>MainForm</a:t>
            </a:r>
            <a:r>
              <a:rPr lang="en-US" dirty="0"/>
              <a:t>())). </a:t>
            </a:r>
            <a:r>
              <a:rPr lang="ru-RU" dirty="0"/>
              <a:t>Приложение использует </a:t>
            </a:r>
            <a:r>
              <a:rPr lang="en-US" dirty="0"/>
              <a:t>Windows Forms </a:t>
            </a:r>
            <a:r>
              <a:rPr lang="ru-RU" dirty="0"/>
              <a:t>для взаимодействия с пользователем.</a:t>
            </a:r>
            <a:br>
              <a:rPr lang="ru-RU" dirty="0"/>
            </a:br>
            <a:endParaRPr lang="ru-RU" b="1" i="1" dirty="0">
              <a:solidFill>
                <a:schemeClr val="accent6">
                  <a:lumMod val="75000"/>
                </a:schemeClr>
              </a:solidFill>
              <a:ea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060" y="1908423"/>
            <a:ext cx="6469063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158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Разработка спецификаций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b="0" dirty="0"/>
              <a:t>Описание синтаксической спецификации входа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356625" y="4875151"/>
            <a:ext cx="7704856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Описание синтаксической спецификации входа модуля</a:t>
            </a:r>
          </a:p>
          <a:p>
            <a:r>
              <a:rPr lang="ru-RU" dirty="0"/>
              <a:t>При добавлении записи вводятся: лицевой счет, фамилия имя отчество клиента, номер телефона, адрес проживания, выбранный тариф, статус обслуживания.</a:t>
            </a:r>
          </a:p>
          <a:p>
            <a:r>
              <a:rPr lang="ru-RU" dirty="0"/>
              <a:t>Обязательные поля: ФИО клиента, телефон, адрес.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126" y="1957348"/>
            <a:ext cx="6356800" cy="2916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150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Разработка спецификаций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r>
              <a:rPr lang="ru-RU" sz="1600" b="0" dirty="0"/>
              <a:t>Описание структуры данных модуля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366164" y="4356695"/>
            <a:ext cx="77048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Класс </a:t>
            </a:r>
            <a:r>
              <a:rPr lang="en-US" dirty="0" err="1"/>
              <a:t>AccountingSnapshot</a:t>
            </a:r>
            <a:r>
              <a:rPr lang="en-US" dirty="0"/>
              <a:t> </a:t>
            </a:r>
            <a:r>
              <a:rPr lang="ru-RU" dirty="0"/>
              <a:t>содержит поля: </a:t>
            </a:r>
            <a:r>
              <a:rPr lang="en-US" dirty="0"/>
              <a:t>Tariffs (</a:t>
            </a:r>
            <a:r>
              <a:rPr lang="ru-RU" dirty="0"/>
              <a:t>список тарифных планов), </a:t>
            </a:r>
            <a:r>
              <a:rPr lang="en-US" dirty="0"/>
              <a:t>Customers (</a:t>
            </a:r>
            <a:r>
              <a:rPr lang="ru-RU" dirty="0"/>
              <a:t>список клиентов), </a:t>
            </a:r>
            <a:r>
              <a:rPr lang="en-US" dirty="0"/>
              <a:t>Payments (</a:t>
            </a:r>
            <a:r>
              <a:rPr lang="ru-RU" dirty="0"/>
              <a:t>список платежей).</a:t>
            </a:r>
          </a:p>
          <a:p>
            <a:r>
              <a:rPr lang="ru-RU" dirty="0"/>
              <a:t>Данные хранятся в файле в формате </a:t>
            </a:r>
            <a:r>
              <a:rPr lang="en-US" dirty="0"/>
              <a:t>JSON.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017" y="2124447"/>
            <a:ext cx="462915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459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Выбор языка программирования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1428" y="1908423"/>
            <a:ext cx="9679616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1. Язык программирования C# (платформа .NET 8)</a:t>
            </a:r>
          </a:p>
          <a:p>
            <a:r>
              <a:rPr lang="ru-RU" dirty="0"/>
              <a:t>2. Технология WPF (</a:t>
            </a:r>
            <a:r>
              <a:rPr lang="ru-RU" dirty="0" err="1"/>
              <a:t>Windows</a:t>
            </a:r>
            <a:r>
              <a:rPr lang="ru-RU" dirty="0"/>
              <a:t> </a:t>
            </a:r>
            <a:r>
              <a:rPr lang="ru-RU" dirty="0" err="1"/>
              <a:t>Presentation</a:t>
            </a:r>
            <a:r>
              <a:rPr lang="ru-RU" dirty="0"/>
              <a:t> </a:t>
            </a:r>
            <a:r>
              <a:rPr lang="ru-RU" dirty="0" err="1"/>
              <a:t>Foundation</a:t>
            </a:r>
            <a:r>
              <a:rPr lang="ru-RU" dirty="0"/>
              <a:t>) для создания пользовательского интерфейса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38808" y="4709070"/>
            <a:ext cx="770485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800" dirty="0">
                <a:ea typeface="Times New Roman" panose="02020603050405020304" pitchFamily="18" charset="0"/>
              </a:rPr>
              <a:t>Выбор языка программирования</a:t>
            </a:r>
          </a:p>
          <a:p>
            <a:pPr algn="just"/>
            <a:r>
              <a:rPr lang="ru-RU" sz="1800" dirty="0">
                <a:ea typeface="Times New Roman" panose="02020603050405020304" pitchFamily="18" charset="0"/>
              </a:rPr>
              <a:t>1. C# (.NET 8) — мощный объектно-ориентированный язык.</a:t>
            </a:r>
          </a:p>
          <a:p>
            <a:pPr algn="just"/>
            <a:r>
              <a:rPr lang="ru-RU" sz="1800" dirty="0">
                <a:ea typeface="Times New Roman" panose="02020603050405020304" pitchFamily="18" charset="0"/>
              </a:rPr>
              <a:t>2. WPF — платформа для создания современных интерфейсов на XAML.</a:t>
            </a:r>
          </a:p>
          <a:p>
            <a:pPr algn="just"/>
            <a:r>
              <a:rPr lang="ru-RU" sz="1800" dirty="0">
                <a:ea typeface="Times New Roman" panose="02020603050405020304" pitchFamily="18" charset="0"/>
              </a:rPr>
              <a:t>3. </a:t>
            </a:r>
            <a:r>
              <a:rPr lang="ru-RU" sz="1800" dirty="0" err="1">
                <a:ea typeface="Times New Roman" panose="02020603050405020304" pitchFamily="18" charset="0"/>
              </a:rPr>
              <a:t>System.Text.Json</a:t>
            </a:r>
            <a:r>
              <a:rPr lang="ru-RU" sz="1800" dirty="0">
                <a:ea typeface="Times New Roman" panose="02020603050405020304" pitchFamily="18" charset="0"/>
              </a:rPr>
              <a:t> — встроенная библиотека для работы с JSON.</a:t>
            </a:r>
          </a:p>
          <a:p>
            <a:pPr algn="just"/>
            <a:r>
              <a:rPr lang="ru-RU" sz="1800" dirty="0">
                <a:ea typeface="Times New Roman" panose="02020603050405020304" pitchFamily="18" charset="0"/>
              </a:rPr>
              <a:t>4. </a:t>
            </a:r>
            <a:r>
              <a:rPr lang="ru-RU" sz="1800" dirty="0" err="1">
                <a:ea typeface="Times New Roman" panose="02020603050405020304" pitchFamily="18" charset="0"/>
              </a:rPr>
              <a:t>Visual</a:t>
            </a:r>
            <a:r>
              <a:rPr lang="ru-RU" sz="1800" dirty="0"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a typeface="Times New Roman" panose="02020603050405020304" pitchFamily="18" charset="0"/>
              </a:rPr>
              <a:t>Studio</a:t>
            </a:r>
            <a:r>
              <a:rPr lang="ru-RU" sz="1800" dirty="0">
                <a:ea typeface="Times New Roman" panose="02020603050405020304" pitchFamily="18" charset="0"/>
              </a:rPr>
              <a:t> 2026 — среда разработки.</a:t>
            </a:r>
          </a:p>
          <a:p>
            <a:pPr algn="just"/>
            <a:r>
              <a:rPr lang="ru-RU" sz="1800" dirty="0">
                <a:ea typeface="Times New Roman" panose="02020603050405020304" pitchFamily="18" charset="0"/>
              </a:rPr>
              <a:t>5. </a:t>
            </a:r>
            <a:r>
              <a:rPr lang="ru-RU" sz="1800" dirty="0" err="1">
                <a:ea typeface="Times New Roman" panose="02020603050405020304" pitchFamily="18" charset="0"/>
              </a:rPr>
              <a:t>Git</a:t>
            </a:r>
            <a:r>
              <a:rPr lang="ru-RU" sz="1800" dirty="0">
                <a:ea typeface="Times New Roman" panose="02020603050405020304" pitchFamily="18" charset="0"/>
              </a:rPr>
              <a:t> и </a:t>
            </a:r>
            <a:r>
              <a:rPr lang="ru-RU" sz="1800" dirty="0" err="1">
                <a:ea typeface="Times New Roman" panose="02020603050405020304" pitchFamily="18" charset="0"/>
              </a:rPr>
              <a:t>GitHub</a:t>
            </a:r>
            <a:r>
              <a:rPr lang="ru-RU" sz="1800" dirty="0">
                <a:ea typeface="Times New Roman" panose="02020603050405020304" pitchFamily="18" charset="0"/>
              </a:rPr>
              <a:t> — контроль версий</a:t>
            </a:r>
            <a:r>
              <a:rPr lang="ru-RU" sz="1600" dirty="0">
                <a:ea typeface="Times New Roman" panose="02020603050405020304" pitchFamily="18" charset="0"/>
              </a:rPr>
              <a:t>.</a:t>
            </a:r>
            <a:endParaRPr lang="ru-RU" sz="1600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  <p:pic>
        <p:nvPicPr>
          <p:cNvPr id="15" name="Picture 1" descr="WPF-Application-Development_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2764" y="2916535"/>
            <a:ext cx="2376264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avatars.mds.yandex.net/i?id=48de5503618f938b1ac1bc1d885e31f69125cc60-10997177-images-thumbs&amp;n=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956" y="3090799"/>
            <a:ext cx="1656183" cy="145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60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Программирование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314252" y="3276575"/>
            <a:ext cx="7704856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1. Для начала необходимо запустить </a:t>
            </a:r>
            <a:r>
              <a:rPr lang="ru-RU" dirty="0" err="1"/>
              <a:t>Visual</a:t>
            </a:r>
            <a:r>
              <a:rPr lang="ru-RU" dirty="0"/>
              <a:t> </a:t>
            </a:r>
            <a:r>
              <a:rPr lang="ru-RU" dirty="0" err="1"/>
              <a:t>Studio</a:t>
            </a:r>
            <a:r>
              <a:rPr lang="ru-RU" dirty="0"/>
              <a:t> 2026, затем создать новый проект, нажав Файл → Создать → Проект</a:t>
            </a:r>
          </a:p>
          <a:p>
            <a:r>
              <a:rPr lang="ru-RU" dirty="0"/>
              <a:t>2. Далее появится диалоговое окно, в котором необходимо выбрать шаблон «WPF приложение (.NET 8)» и указать имя проекта </a:t>
            </a:r>
            <a:r>
              <a:rPr lang="en-US" dirty="0" err="1" smtClean="0"/>
              <a:t>TariffPaymentAccounting.App</a:t>
            </a:r>
            <a:endParaRPr lang="ru-RU" dirty="0" smtClean="0"/>
          </a:p>
          <a:p>
            <a:r>
              <a:rPr lang="ru-RU" dirty="0" smtClean="0"/>
              <a:t>3. После создания проекта добавляется ссылка на библиотеку классов </a:t>
            </a:r>
            <a:r>
              <a:rPr lang="ru-RU" dirty="0" err="1" smtClean="0"/>
              <a:t>SoftwareLibrary</a:t>
            </a:r>
            <a:r>
              <a:rPr lang="ru-RU" dirty="0" smtClean="0"/>
              <a:t> и разрабатывается пользовательский интерфейс на XAML с элементами </a:t>
            </a:r>
            <a:r>
              <a:rPr lang="ru-RU" dirty="0" err="1" smtClean="0"/>
              <a:t>TextBox</a:t>
            </a:r>
            <a:r>
              <a:rPr lang="ru-RU" dirty="0" smtClean="0"/>
              <a:t>, </a:t>
            </a:r>
            <a:r>
              <a:rPr lang="ru-RU" dirty="0" err="1" smtClean="0"/>
              <a:t>ComboBox</a:t>
            </a:r>
            <a:r>
              <a:rPr lang="ru-RU" dirty="0" smtClean="0"/>
              <a:t>, </a:t>
            </a:r>
            <a:r>
              <a:rPr lang="ru-RU" dirty="0" err="1" smtClean="0"/>
              <a:t>DatePicker</a:t>
            </a:r>
            <a:r>
              <a:rPr lang="ru-RU" dirty="0" smtClean="0"/>
              <a:t>, </a:t>
            </a:r>
            <a:r>
              <a:rPr lang="ru-RU" dirty="0" err="1" smtClean="0"/>
              <a:t>DataGrid</a:t>
            </a:r>
            <a:r>
              <a:rPr lang="ru-RU" dirty="0" smtClean="0"/>
              <a:t> и </a:t>
            </a:r>
            <a:r>
              <a:rPr lang="ru-RU" dirty="0" err="1" smtClean="0"/>
              <a:t>Button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23974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Компиляция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1428" y="1908423"/>
            <a:ext cx="9679616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ru-RU" dirty="0" smtClean="0"/>
              <a:t>Для </a:t>
            </a:r>
            <a:r>
              <a:rPr lang="ru-RU" dirty="0"/>
              <a:t>начала необходимо запустить </a:t>
            </a:r>
            <a:r>
              <a:rPr lang="en-US" dirty="0"/>
              <a:t>Visual Studio 2026 и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 smtClean="0"/>
              <a:t>TariffPaymentAccounting.App</a:t>
            </a:r>
            <a:endParaRPr lang="ru-RU" dirty="0" smtClean="0"/>
          </a:p>
          <a:p>
            <a:pPr marL="457200" indent="-457200">
              <a:buAutoNum type="arabicPeriod"/>
            </a:pPr>
            <a:r>
              <a:rPr lang="ru-RU" dirty="0" smtClean="0"/>
              <a:t>2</a:t>
            </a:r>
            <a:r>
              <a:rPr lang="ru-RU" dirty="0"/>
              <a:t>. Далее в меню выбрать «Сборка» → «Собрать решение» или нажать клавишу F6 на клавиатуре</a:t>
            </a:r>
          </a:p>
          <a:p>
            <a:r>
              <a:rPr lang="ru-RU" dirty="0"/>
              <a:t>3. После успешной компиляции в окне «Вывод» появится сообщение: «Сборка успешно завершена», а в папке </a:t>
            </a:r>
            <a:r>
              <a:rPr lang="en-US" dirty="0"/>
              <a:t>bin/Debug </a:t>
            </a:r>
            <a:r>
              <a:rPr lang="ru-RU" dirty="0"/>
              <a:t>создаются исполняемый файл </a:t>
            </a:r>
            <a:r>
              <a:rPr lang="en-US" dirty="0"/>
              <a:t>TariffPaymentAccounting.App.exe </a:t>
            </a:r>
            <a:r>
              <a:rPr lang="ru-RU" dirty="0"/>
              <a:t>и библиотека </a:t>
            </a:r>
            <a:r>
              <a:rPr lang="en-US" smtClean="0"/>
              <a:t>TariffPaymentLibrary.dll</a:t>
            </a:r>
            <a:endParaRPr lang="en-US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22741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Отладка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1428" y="1908423"/>
            <a:ext cx="967961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Для начала необходимо запустить </a:t>
            </a:r>
            <a:r>
              <a:rPr lang="ru-RU" sz="2000" dirty="0" err="1"/>
              <a:t>Visual</a:t>
            </a:r>
            <a:r>
              <a:rPr lang="ru-RU" sz="2000" dirty="0"/>
              <a:t> </a:t>
            </a:r>
            <a:r>
              <a:rPr lang="ru-RU" sz="2000" dirty="0" err="1"/>
              <a:t>Studio</a:t>
            </a:r>
            <a:r>
              <a:rPr lang="ru-RU" sz="2000" dirty="0"/>
              <a:t> и открыть проект </a:t>
            </a:r>
            <a:r>
              <a:rPr lang="ru-RU" sz="2000" dirty="0" err="1"/>
              <a:t>TariffPaymentAccounting</a:t>
            </a:r>
            <a:r>
              <a:rPr lang="ru-RU" sz="2000" dirty="0"/>
              <a:t>.</a:t>
            </a:r>
          </a:p>
          <a:p>
            <a:r>
              <a:rPr lang="ru-RU" sz="2000" dirty="0"/>
              <a:t>Далее установить точку останова (</a:t>
            </a:r>
            <a:r>
              <a:rPr lang="ru-RU" sz="2000" dirty="0" err="1"/>
              <a:t>Breakpoint</a:t>
            </a:r>
            <a:r>
              <a:rPr lang="ru-RU" sz="2000" dirty="0"/>
              <a:t>) в коде класса </a:t>
            </a:r>
            <a:r>
              <a:rPr lang="ru-RU" sz="2000" dirty="0" err="1"/>
              <a:t>Payment</a:t>
            </a:r>
            <a:r>
              <a:rPr lang="ru-RU" sz="2000" dirty="0"/>
              <a:t>, например, в конструкторе или в сеттере свойства </a:t>
            </a:r>
            <a:r>
              <a:rPr lang="ru-RU" sz="2000" dirty="0" err="1"/>
              <a:t>Amount</a:t>
            </a:r>
            <a:r>
              <a:rPr lang="ru-RU" sz="2000" dirty="0"/>
              <a:t>.</a:t>
            </a:r>
          </a:p>
          <a:p>
            <a:r>
              <a:rPr lang="ru-RU" sz="2000" dirty="0"/>
              <a:t>В режиме отладки нажать F5 (или кнопку «Отладка → Начать отладку») и выполнить операцию добавления нового платежа – выполнение программы остановится на отмеченной строке, что позволит отследить значения переменных в окнах «Локальные» и «Контрольные значения»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266" y="4428704"/>
            <a:ext cx="4638675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931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Тестирование программного модуля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64824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/>
              <a:t>Разработка тестовых сценариев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674292" y="5436815"/>
            <a:ext cx="770485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6" y="4497615"/>
            <a:ext cx="4176464" cy="1987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628" y="4509351"/>
            <a:ext cx="3096344" cy="19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9028" y="4509351"/>
            <a:ext cx="1790700" cy="1987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106016" y="1696848"/>
            <a:ext cx="497760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Разработка тестовых сценариев</a:t>
            </a:r>
            <a:endParaRPr lang="ru-RU" sz="1600" dirty="0"/>
          </a:p>
          <a:p>
            <a:r>
              <a:rPr lang="ru-RU" sz="1600" dirty="0" smtClean="0"/>
              <a:t>1. Добавление </a:t>
            </a:r>
            <a:r>
              <a:rPr lang="ru-RU" sz="1600" dirty="0"/>
              <a:t>нового клиента с заполнением всех полей (ФИО, телефон, адрес, тариф).</a:t>
            </a:r>
          </a:p>
          <a:p>
            <a:r>
              <a:rPr lang="ru-RU" sz="1600" dirty="0" smtClean="0"/>
              <a:t>2. Добавление </a:t>
            </a:r>
            <a:r>
              <a:rPr lang="ru-RU" sz="1600" dirty="0"/>
              <a:t>клиента с пустым полем </a:t>
            </a:r>
            <a:r>
              <a:rPr lang="ru-RU" sz="1600" dirty="0" smtClean="0"/>
              <a:t>ФИО</a:t>
            </a:r>
          </a:p>
          <a:p>
            <a:r>
              <a:rPr lang="ru-RU" sz="1600" dirty="0" smtClean="0"/>
              <a:t>3. Отключение </a:t>
            </a:r>
            <a:r>
              <a:rPr lang="ru-RU" sz="1600" dirty="0"/>
              <a:t>активного клиента с подтверждением в диалоговом окне.</a:t>
            </a:r>
          </a:p>
          <a:p>
            <a:r>
              <a:rPr lang="ru-RU" sz="1600" dirty="0"/>
              <a:t>4</a:t>
            </a:r>
            <a:r>
              <a:rPr lang="ru-RU" sz="1600" dirty="0" smtClean="0"/>
              <a:t>. Добавление </a:t>
            </a:r>
            <a:r>
              <a:rPr lang="ru-RU" sz="1600" dirty="0"/>
              <a:t>нового тарифа с указанием названия, абонентской платы и описания.</a:t>
            </a:r>
          </a:p>
          <a:p>
            <a:r>
              <a:rPr lang="ru-RU" sz="1600" dirty="0" smtClean="0"/>
              <a:t>5. Добавление </a:t>
            </a:r>
            <a:r>
              <a:rPr lang="ru-RU" sz="1600" dirty="0"/>
              <a:t>тарифа с пустым названием (ошибка).</a:t>
            </a:r>
          </a:p>
          <a:p>
            <a:r>
              <a:rPr lang="ru-RU" sz="1600" dirty="0" smtClean="0"/>
              <a:t>6. Сохранение </a:t>
            </a:r>
            <a:r>
              <a:rPr lang="ru-RU" sz="1600" dirty="0"/>
              <a:t>данных, закрытие и повторный открытие </a:t>
            </a:r>
            <a:r>
              <a:rPr lang="ru-RU" sz="1600" dirty="0" smtClean="0"/>
              <a:t>программы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588957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148" y="433631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Тестирование программного модуля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/>
              <a:t>Модульное тестирование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92088" y="1980431"/>
            <a:ext cx="770485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800" dirty="0"/>
              <a:t>Программа запущена, добавлено 3 тестовых записи (клиенты: Иванов Иван Иванович, Петрова Анна Сергеевна, Алиев Магомед Русланович). Выполнены поиск клиента по лицевому счету, добавление тарифа и платежа, отключение клиента с подтверждением. Данные сохранились в JSON-файле и после перезапуска программы загрузились корректно. Все функции работают без ошибок.</a:t>
            </a:r>
            <a:endParaRPr lang="ru-RU" sz="18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5004767"/>
            <a:ext cx="10307637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4834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Тестирование программного модуля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/>
              <a:t>Тестирование производительности</a:t>
            </a:r>
            <a:endParaRPr lang="ru-RU" sz="1700" b="0" dirty="0">
              <a:solidFill>
                <a:srgbClr val="E6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41" y="4068663"/>
            <a:ext cx="3448050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0" y="1908423"/>
            <a:ext cx="53467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При работе со 100 тестовыми записями (клиенты, тарифы, платежи):</a:t>
            </a:r>
          </a:p>
          <a:p>
            <a:r>
              <a:rPr lang="ru-RU" dirty="0"/>
              <a:t>загрузка данных: менее 0,1 секунды</a:t>
            </a:r>
          </a:p>
          <a:p>
            <a:r>
              <a:rPr lang="ru-RU" dirty="0"/>
              <a:t>добавление клиента: менее 0,05 секунды</a:t>
            </a:r>
          </a:p>
          <a:p>
            <a:r>
              <a:rPr lang="ru-RU" dirty="0"/>
              <a:t>поиск по лицевому счету: менее 0,1 секунды</a:t>
            </a:r>
          </a:p>
          <a:p>
            <a:r>
              <a:rPr lang="ru-RU" dirty="0"/>
              <a:t>сохранение в JSON: менее 0,05 секунды</a:t>
            </a:r>
          </a:p>
        </p:txBody>
      </p:sp>
    </p:spTree>
    <p:extLst>
      <p:ext uri="{BB962C8B-B14F-4D97-AF65-F5344CB8AC3E}">
        <p14:creationId xmlns:p14="http://schemas.microsoft.com/office/powerpoint/2010/main" val="2412738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Тестирование программного модуля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98744" y="1213775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/>
              <a:t>Загрузка программного модуля в </a:t>
            </a:r>
            <a:r>
              <a:rPr lang="ru-RU" sz="1700" b="0" dirty="0" err="1" smtClean="0"/>
              <a:t>репозиторий</a:t>
            </a:r>
            <a:r>
              <a:rPr lang="ru-RU" sz="1700" b="0" dirty="0" smtClean="0"/>
              <a:t> </a:t>
            </a:r>
            <a:r>
              <a:rPr lang="en-US" sz="1700" b="0" dirty="0" smtClean="0">
                <a:solidFill>
                  <a:srgbClr val="E60000"/>
                </a:solidFill>
              </a:rPr>
              <a:t>GitHub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2967" y="1980431"/>
            <a:ext cx="9616457" cy="2877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 smtClean="0"/>
              <a:t>1. Перейти </a:t>
            </a:r>
            <a:r>
              <a:rPr lang="ru-RU" sz="1800" dirty="0"/>
              <a:t>в папку с проектами практики и инициализировать новый </a:t>
            </a:r>
            <a:r>
              <a:rPr lang="ru-RU" sz="1800" dirty="0" err="1"/>
              <a:t>репозиторий</a:t>
            </a:r>
            <a:r>
              <a:rPr lang="ru-RU" sz="1800" dirty="0"/>
              <a:t> командой </a:t>
            </a:r>
            <a:r>
              <a:rPr lang="ru-RU" sz="1800" dirty="0" err="1"/>
              <a:t>git</a:t>
            </a:r>
            <a:r>
              <a:rPr lang="ru-RU" sz="1800" dirty="0"/>
              <a:t> </a:t>
            </a:r>
            <a:r>
              <a:rPr lang="ru-RU" sz="1800" dirty="0" err="1"/>
              <a:t>init</a:t>
            </a:r>
            <a:r>
              <a:rPr lang="ru-RU" sz="1800" dirty="0"/>
              <a:t>.</a:t>
            </a:r>
          </a:p>
          <a:p>
            <a:r>
              <a:rPr lang="ru-RU" sz="1800" dirty="0" smtClean="0"/>
              <a:t>2. Добавить </a:t>
            </a:r>
            <a:r>
              <a:rPr lang="ru-RU" sz="1800" dirty="0"/>
              <a:t>проекты в индекс командой </a:t>
            </a:r>
            <a:r>
              <a:rPr lang="ru-RU" sz="1800" dirty="0" err="1"/>
              <a:t>git</a:t>
            </a:r>
            <a:r>
              <a:rPr lang="ru-RU" sz="1800" dirty="0"/>
              <a:t> </a:t>
            </a:r>
            <a:r>
              <a:rPr lang="ru-RU" sz="1800" dirty="0" err="1"/>
              <a:t>add</a:t>
            </a:r>
            <a:r>
              <a:rPr lang="ru-RU" sz="1800" dirty="0"/>
              <a:t> . и осуществить первый </a:t>
            </a:r>
            <a:r>
              <a:rPr lang="ru-RU" sz="1800" dirty="0" err="1"/>
              <a:t>коммит</a:t>
            </a:r>
            <a:r>
              <a:rPr lang="ru-RU" sz="1800" dirty="0"/>
              <a:t> изменений командой </a:t>
            </a:r>
            <a:r>
              <a:rPr lang="ru-RU" sz="1800" dirty="0" err="1"/>
              <a:t>git</a:t>
            </a:r>
            <a:r>
              <a:rPr lang="ru-RU" sz="1800" dirty="0"/>
              <a:t> </a:t>
            </a:r>
            <a:r>
              <a:rPr lang="ru-RU" sz="1800" dirty="0" err="1"/>
              <a:t>commit</a:t>
            </a:r>
            <a:r>
              <a:rPr lang="ru-RU" sz="1800" dirty="0"/>
              <a:t> -m "Первый </a:t>
            </a:r>
            <a:r>
              <a:rPr lang="ru-RU" sz="1800" dirty="0" err="1"/>
              <a:t>коммит</a:t>
            </a:r>
            <a:r>
              <a:rPr lang="ru-RU" sz="1800" dirty="0"/>
              <a:t>".</a:t>
            </a:r>
          </a:p>
          <a:p>
            <a:r>
              <a:rPr lang="ru-RU" sz="1800" dirty="0" smtClean="0"/>
              <a:t>3. Добавить </a:t>
            </a:r>
            <a:r>
              <a:rPr lang="ru-RU" sz="1800" dirty="0"/>
              <a:t>локальному </a:t>
            </a:r>
            <a:r>
              <a:rPr lang="ru-RU" sz="1800" dirty="0" err="1"/>
              <a:t>репозиторию</a:t>
            </a:r>
            <a:r>
              <a:rPr lang="ru-RU" sz="1800" dirty="0"/>
              <a:t> ссылку на удаленный </a:t>
            </a:r>
            <a:r>
              <a:rPr lang="ru-RU" sz="1800" dirty="0" err="1"/>
              <a:t>репозиторий</a:t>
            </a:r>
            <a:r>
              <a:rPr lang="ru-RU" sz="1800" dirty="0"/>
              <a:t> командой </a:t>
            </a:r>
            <a:r>
              <a:rPr lang="ru-RU" sz="1800" dirty="0" err="1"/>
              <a:t>git</a:t>
            </a:r>
            <a:r>
              <a:rPr lang="ru-RU" sz="1800" dirty="0"/>
              <a:t> </a:t>
            </a:r>
            <a:r>
              <a:rPr lang="ru-RU" sz="1800" dirty="0" err="1"/>
              <a:t>remote</a:t>
            </a:r>
            <a:r>
              <a:rPr lang="ru-RU" sz="1800" dirty="0"/>
              <a:t> </a:t>
            </a:r>
            <a:r>
              <a:rPr lang="ru-RU" sz="1800" dirty="0" err="1"/>
              <a:t>add</a:t>
            </a:r>
            <a:r>
              <a:rPr lang="ru-RU" sz="1800" dirty="0"/>
              <a:t> </a:t>
            </a:r>
            <a:r>
              <a:rPr lang="ru-RU" sz="1800" dirty="0" err="1"/>
              <a:t>origin</a:t>
            </a:r>
            <a:r>
              <a:rPr lang="ru-RU" sz="1800" dirty="0"/>
              <a:t> &lt;</a:t>
            </a:r>
            <a:r>
              <a:rPr lang="ru-RU" sz="1800" dirty="0" err="1"/>
              <a:t>ссылка_на_репозиторий</a:t>
            </a:r>
            <a:r>
              <a:rPr lang="ru-RU" sz="1800" dirty="0"/>
              <a:t>&gt;.</a:t>
            </a:r>
          </a:p>
          <a:p>
            <a:r>
              <a:rPr lang="ru-RU" sz="1800" dirty="0" smtClean="0"/>
              <a:t>4. Выполнить </a:t>
            </a:r>
            <a:r>
              <a:rPr lang="ru-RU" sz="1800" dirty="0"/>
              <a:t>команду </a:t>
            </a:r>
            <a:r>
              <a:rPr lang="ru-RU" sz="1800" dirty="0" err="1"/>
              <a:t>git</a:t>
            </a:r>
            <a:r>
              <a:rPr lang="ru-RU" sz="1800" dirty="0"/>
              <a:t> </a:t>
            </a:r>
            <a:r>
              <a:rPr lang="ru-RU" sz="1800" dirty="0" err="1"/>
              <a:t>push</a:t>
            </a:r>
            <a:r>
              <a:rPr lang="ru-RU" sz="1800" dirty="0"/>
              <a:t> </a:t>
            </a:r>
            <a:r>
              <a:rPr lang="ru-RU" sz="1800" dirty="0" err="1"/>
              <a:t>origin</a:t>
            </a:r>
            <a:r>
              <a:rPr lang="ru-RU" sz="1800" dirty="0"/>
              <a:t> </a:t>
            </a:r>
            <a:r>
              <a:rPr lang="ru-RU" sz="1800" dirty="0" err="1"/>
              <a:t>master</a:t>
            </a:r>
            <a:r>
              <a:rPr lang="ru-RU" sz="1800" dirty="0"/>
              <a:t> (или </a:t>
            </a:r>
            <a:r>
              <a:rPr lang="ru-RU" sz="1800" dirty="0" err="1"/>
              <a:t>git</a:t>
            </a:r>
            <a:r>
              <a:rPr lang="ru-RU" sz="1800" dirty="0"/>
              <a:t> </a:t>
            </a:r>
            <a:r>
              <a:rPr lang="ru-RU" sz="1800" dirty="0" err="1"/>
              <a:t>push</a:t>
            </a:r>
            <a:r>
              <a:rPr lang="ru-RU" sz="1800" dirty="0"/>
              <a:t> -u </a:t>
            </a:r>
            <a:r>
              <a:rPr lang="ru-RU" sz="1800" dirty="0" err="1"/>
              <a:t>origin</a:t>
            </a:r>
            <a:r>
              <a:rPr lang="ru-RU" sz="1800" dirty="0"/>
              <a:t> </a:t>
            </a:r>
            <a:r>
              <a:rPr lang="ru-RU" sz="1800" dirty="0" err="1"/>
              <a:t>master</a:t>
            </a:r>
            <a:r>
              <a:rPr lang="ru-RU" sz="1800" dirty="0"/>
              <a:t>), тем самым отправив локальную ветку </a:t>
            </a:r>
            <a:r>
              <a:rPr lang="ru-RU" sz="1800" dirty="0" err="1"/>
              <a:t>master</a:t>
            </a:r>
            <a:r>
              <a:rPr lang="ru-RU" sz="1800" dirty="0"/>
              <a:t> на сервер </a:t>
            </a:r>
            <a:r>
              <a:rPr lang="ru-RU" sz="1800" dirty="0" err="1"/>
              <a:t>origin</a:t>
            </a:r>
            <a:r>
              <a:rPr lang="ru-RU" sz="1800" dirty="0"/>
              <a:t>.</a:t>
            </a:r>
          </a:p>
          <a:p>
            <a:r>
              <a:rPr lang="ru-RU" sz="1800" dirty="0" smtClean="0"/>
              <a:t>5. Продемонстрировать </a:t>
            </a:r>
            <a:r>
              <a:rPr lang="ru-RU" sz="1800" dirty="0"/>
              <a:t>добавленные файлы на </a:t>
            </a:r>
            <a:r>
              <a:rPr lang="ru-RU" sz="1800" dirty="0" err="1"/>
              <a:t>GitHub</a:t>
            </a:r>
            <a:r>
              <a:rPr lang="ru-RU" sz="1800" dirty="0"/>
              <a:t>.</a:t>
            </a:r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endParaRPr lang="ru-RU" sz="1900" dirty="0"/>
          </a:p>
        </p:txBody>
      </p:sp>
      <p:sp>
        <p:nvSpPr>
          <p:cNvPr id="3" name="TextBox 2"/>
          <p:cNvSpPr txBox="1"/>
          <p:nvPr/>
        </p:nvSpPr>
        <p:spPr>
          <a:xfrm>
            <a:off x="402967" y="6876975"/>
            <a:ext cx="835292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https://github.com/yakubSH/Proizvodstvennya.git</a:t>
            </a:r>
            <a:endParaRPr lang="ru-RU" b="1" i="1" u="sng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55" y="4761593"/>
            <a:ext cx="5048250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8828" y="4761594"/>
            <a:ext cx="2880320" cy="1571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3676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95916"/>
            <a:ext cx="9687193" cy="498598"/>
          </a:xfrm>
        </p:spPr>
        <p:txBody>
          <a:bodyPr/>
          <a:lstStyle/>
          <a:p>
            <a:r>
              <a:rPr lang="ru-RU" sz="3600" dirty="0"/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140" y="2124447"/>
            <a:ext cx="9457277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Осуществите комплексный анализ результатов выполненных видов работ, сформулируйте выводы:</a:t>
            </a:r>
          </a:p>
          <a:p>
            <a:r>
              <a:rPr lang="ru-RU" dirty="0" smtClean="0"/>
              <a:t>1. Разработана </a:t>
            </a:r>
            <a:r>
              <a:rPr lang="ru-RU" dirty="0"/>
              <a:t>информационная система учета оплаты тарифов на C# и </a:t>
            </a:r>
            <a:r>
              <a:rPr lang="ru-RU" dirty="0" err="1"/>
              <a:t>Windows</a:t>
            </a:r>
            <a:r>
              <a:rPr lang="ru-RU" dirty="0"/>
              <a:t> </a:t>
            </a:r>
            <a:r>
              <a:rPr lang="ru-RU" dirty="0" err="1"/>
              <a:t>Forms</a:t>
            </a:r>
            <a:r>
              <a:rPr lang="ru-RU" dirty="0"/>
              <a:t>.</a:t>
            </a:r>
          </a:p>
          <a:p>
            <a:r>
              <a:rPr lang="ru-RU" dirty="0" smtClean="0"/>
              <a:t>2. Создана </a:t>
            </a:r>
            <a:r>
              <a:rPr lang="ru-RU" dirty="0"/>
              <a:t>модель данных </a:t>
            </a:r>
            <a:r>
              <a:rPr lang="ru-RU" dirty="0" err="1"/>
              <a:t>AccountingSnapshot</a:t>
            </a:r>
            <a:r>
              <a:rPr lang="ru-RU" dirty="0"/>
              <a:t> с классами </a:t>
            </a:r>
            <a:r>
              <a:rPr lang="ru-RU" dirty="0" err="1"/>
              <a:t>Customer</a:t>
            </a:r>
            <a:r>
              <a:rPr lang="ru-RU" dirty="0"/>
              <a:t>, </a:t>
            </a:r>
            <a:r>
              <a:rPr lang="ru-RU" dirty="0" err="1"/>
              <a:t>TariffPlan</a:t>
            </a:r>
            <a:r>
              <a:rPr lang="ru-RU" dirty="0"/>
              <a:t>, </a:t>
            </a:r>
            <a:r>
              <a:rPr lang="ru-RU" dirty="0" err="1"/>
              <a:t>Payment</a:t>
            </a:r>
            <a:r>
              <a:rPr lang="ru-RU" dirty="0"/>
              <a:t>, реализующая бизнес-логику приложения.</a:t>
            </a:r>
          </a:p>
          <a:p>
            <a:r>
              <a:rPr lang="ru-RU" dirty="0" smtClean="0"/>
              <a:t>3. Реализованы </a:t>
            </a:r>
            <a:r>
              <a:rPr lang="ru-RU" dirty="0"/>
              <a:t>функции добавления, редактирования, удаления, поиска клиентов, добавления тарифов и платежей, отключения клиента с подтверждением, сохранения данных в JSON-файл.</a:t>
            </a:r>
          </a:p>
          <a:p>
            <a:r>
              <a:rPr lang="ru-RU" dirty="0" smtClean="0"/>
              <a:t>4. Приложение </a:t>
            </a:r>
            <a:r>
              <a:rPr lang="ru-RU" dirty="0"/>
              <a:t>протестировано: выполнена проверка работоспособности, тестовые сценарии (добавление с пустыми полями, отключение клиента, сохранение данных), проведена диагностика производительности (память 42 МБ, загрузка ЦП). Приложение работает стабильно и готово к использованию.</a:t>
            </a:r>
          </a:p>
          <a:p>
            <a:r>
              <a:rPr lang="ru-RU" dirty="0" smtClean="0"/>
              <a:t>5. Цели </a:t>
            </a:r>
            <a:r>
              <a:rPr lang="ru-RU" dirty="0"/>
              <a:t>и задачи производственной практики выполнены в полном объеме</a:t>
            </a:r>
          </a:p>
        </p:txBody>
      </p:sp>
    </p:spTree>
    <p:extLst>
      <p:ext uri="{BB962C8B-B14F-4D97-AF65-F5344CB8AC3E}">
        <p14:creationId xmlns:p14="http://schemas.microsoft.com/office/powerpoint/2010/main" val="2508740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56" y="612279"/>
            <a:ext cx="9687193" cy="498598"/>
          </a:xfrm>
        </p:spPr>
        <p:txBody>
          <a:bodyPr/>
          <a:lstStyle/>
          <a:p>
            <a:r>
              <a:rPr lang="ru-RU" sz="3600" dirty="0" smtClean="0"/>
              <a:t>Список используемой литературы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764407"/>
            <a:ext cx="9667228" cy="47525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 smtClean="0"/>
              <a:t>1. </a:t>
            </a:r>
            <a:r>
              <a:rPr lang="ru-RU" sz="1600" dirty="0" err="1" smtClean="0"/>
              <a:t>Троелсен</a:t>
            </a:r>
            <a:r>
              <a:rPr lang="ru-RU" sz="1600" dirty="0" smtClean="0"/>
              <a:t> </a:t>
            </a:r>
            <a:r>
              <a:rPr lang="ru-RU" sz="1600" dirty="0"/>
              <a:t>Э., </a:t>
            </a:r>
            <a:r>
              <a:rPr lang="ru-RU" sz="1600" dirty="0" err="1"/>
              <a:t>Джепикс</a:t>
            </a:r>
            <a:r>
              <a:rPr lang="ru-RU" sz="1600" dirty="0"/>
              <a:t> Ф. Язык программирования C# 10 и платформа .NET 6. — М.: Вильямс, 2022.</a:t>
            </a:r>
          </a:p>
          <a:p>
            <a:pPr marL="0" indent="0">
              <a:buNone/>
            </a:pPr>
            <a:r>
              <a:rPr lang="ru-RU" sz="1600" dirty="0" smtClean="0"/>
              <a:t>2. </a:t>
            </a:r>
            <a:r>
              <a:rPr lang="ru-RU" sz="1600" dirty="0" err="1" smtClean="0"/>
              <a:t>Шилдт</a:t>
            </a:r>
            <a:r>
              <a:rPr lang="ru-RU" sz="1600" dirty="0" smtClean="0"/>
              <a:t> </a:t>
            </a:r>
            <a:r>
              <a:rPr lang="ru-RU" sz="1600" dirty="0"/>
              <a:t>Г. C# 10. Полное руководство. — М.: Диалектика, 2022.</a:t>
            </a:r>
          </a:p>
          <a:p>
            <a:pPr marL="0" indent="0">
              <a:buNone/>
            </a:pPr>
            <a:r>
              <a:rPr lang="ru-RU" sz="1600" dirty="0" smtClean="0"/>
              <a:t>3. Ньютон-Кинг </a:t>
            </a:r>
            <a:r>
              <a:rPr lang="ru-RU" sz="1600" dirty="0"/>
              <a:t>Т. JSON на практике. — М.: ДМК Пресс, 2021.</a:t>
            </a:r>
          </a:p>
          <a:p>
            <a:pPr marL="0" indent="0">
              <a:buNone/>
            </a:pPr>
            <a:r>
              <a:rPr lang="ru-RU" sz="1600" dirty="0" smtClean="0"/>
              <a:t>4. Петцольд </a:t>
            </a:r>
            <a:r>
              <a:rPr lang="ru-RU" sz="1600" dirty="0"/>
              <a:t>Ч. Программирование </a:t>
            </a:r>
            <a:r>
              <a:rPr lang="ru-RU" sz="1600" dirty="0" err="1"/>
              <a:t>Microsoft</a:t>
            </a:r>
            <a:r>
              <a:rPr lang="ru-RU" sz="1600" dirty="0"/>
              <a:t> </a:t>
            </a:r>
            <a:r>
              <a:rPr lang="ru-RU" sz="1600" dirty="0" err="1"/>
              <a:t>Windows</a:t>
            </a:r>
            <a:r>
              <a:rPr lang="ru-RU" sz="1600" dirty="0"/>
              <a:t> </a:t>
            </a:r>
            <a:r>
              <a:rPr lang="ru-RU" sz="1600" dirty="0" err="1"/>
              <a:t>Forms</a:t>
            </a:r>
            <a:r>
              <a:rPr lang="ru-RU" sz="1600" dirty="0"/>
              <a:t>. — М.: Русская редакция, 2020.</a:t>
            </a:r>
          </a:p>
          <a:p>
            <a:pPr marL="0" indent="0">
              <a:buNone/>
            </a:pPr>
            <a:r>
              <a:rPr lang="ru-RU" sz="1600" dirty="0" smtClean="0"/>
              <a:t>5. Прайс </a:t>
            </a:r>
            <a:r>
              <a:rPr lang="ru-RU" sz="1600" dirty="0"/>
              <a:t>М. C# 10 и .NET 6. Современная разработка. — М.: ДМК Пресс, 2022.</a:t>
            </a:r>
          </a:p>
          <a:p>
            <a:pPr marL="0" indent="0">
              <a:buNone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4233635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2598</TotalTime>
  <Words>1228</Words>
  <Application>Microsoft Office PowerPoint</Application>
  <PresentationFormat>Произвольный</PresentationFormat>
  <Paragraphs>130</Paragraphs>
  <Slides>21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Тема Office</vt:lpstr>
      <vt:lpstr>   ОТЧЕТ  о прохождении производственной практики   по профессиональному модулю ПМ.01 Разработка программных модулей программного обеспечения компьютерных систем  в период с «18» ____05____ 2026 г. по «30» ____05____ 2026 г.  Специальность 09.02.07 Информационные системы и программирование  </vt:lpstr>
      <vt:lpstr>Содержание</vt:lpstr>
      <vt:lpstr>Организационный этап</vt:lpstr>
      <vt:lpstr>Техника безопасности</vt:lpstr>
      <vt:lpstr>Анализ предметной области</vt:lpstr>
      <vt:lpstr>Анализ предметной области</vt:lpstr>
      <vt:lpstr>Анализ предметной области</vt:lpstr>
      <vt:lpstr>Анализ предметной области</vt:lpstr>
      <vt:lpstr>Разработка спецификаций</vt:lpstr>
      <vt:lpstr>Разработка спецификаций</vt:lpstr>
      <vt:lpstr>Разработка спецификаций</vt:lpstr>
      <vt:lpstr>Разработка кода программного модуля</vt:lpstr>
      <vt:lpstr>Разработка кода программного модуля</vt:lpstr>
      <vt:lpstr>Разработка кода программного модуля</vt:lpstr>
      <vt:lpstr>Разработка кода программного модуля</vt:lpstr>
      <vt:lpstr>Тестирование программного модуля</vt:lpstr>
      <vt:lpstr>Тестирование программного модуля</vt:lpstr>
      <vt:lpstr>Тестирование программного модуля</vt:lpstr>
      <vt:lpstr>Тестирование программного модуля</vt:lpstr>
      <vt:lpstr>Выводы</vt:lpstr>
      <vt:lpstr>Список используемой литературы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rpk2024.5@outlook.com</cp:lastModifiedBy>
  <cp:revision>342</cp:revision>
  <cp:lastPrinted>2019-08-06T13:15:09Z</cp:lastPrinted>
  <dcterms:created xsi:type="dcterms:W3CDTF">2020-03-27T22:15:06Z</dcterms:created>
  <dcterms:modified xsi:type="dcterms:W3CDTF">2026-06-03T08:33:50Z</dcterms:modified>
</cp:coreProperties>
</file>